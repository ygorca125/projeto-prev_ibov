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D5A3C-541A-4D82-B851-0EAB0D95AF21}" v="1" dt="2026-01-21T00:41:21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gor Azevedo" userId="acacacccbf0b3215" providerId="LiveId" clId="{4B9538CB-7C18-43AF-9EFB-89B6E21236CB}"/>
    <pc:docChg chg="custSel modSld">
      <pc:chgData name="Ygor Azevedo" userId="acacacccbf0b3215" providerId="LiveId" clId="{4B9538CB-7C18-43AF-9EFB-89B6E21236CB}" dt="2026-01-21T00:41:21.946" v="112"/>
      <pc:docMkLst>
        <pc:docMk/>
      </pc:docMkLst>
      <pc:sldChg chg="modSp">
        <pc:chgData name="Ygor Azevedo" userId="acacacccbf0b3215" providerId="LiveId" clId="{4B9538CB-7C18-43AF-9EFB-89B6E21236CB}" dt="2026-01-21T00:41:21.946" v="112"/>
        <pc:sldMkLst>
          <pc:docMk/>
          <pc:sldMk cId="4239431664" sldId="257"/>
        </pc:sldMkLst>
        <pc:spChg chg="mod">
          <ac:chgData name="Ygor Azevedo" userId="acacacccbf0b3215" providerId="LiveId" clId="{4B9538CB-7C18-43AF-9EFB-89B6E21236CB}" dt="2026-01-21T00:41:21.946" v="112"/>
          <ac:spMkLst>
            <pc:docMk/>
            <pc:sldMk cId="4239431664" sldId="257"/>
            <ac:spMk id="3" creationId="{58C2DAC4-BC20-73BC-F337-5137E269F7E1}"/>
          </ac:spMkLst>
        </pc:spChg>
      </pc:sldChg>
      <pc:sldChg chg="modSp mod">
        <pc:chgData name="Ygor Azevedo" userId="acacacccbf0b3215" providerId="LiveId" clId="{4B9538CB-7C18-43AF-9EFB-89B6E21236CB}" dt="2026-01-20T23:16:32.108" v="99" actId="20577"/>
        <pc:sldMkLst>
          <pc:docMk/>
          <pc:sldMk cId="4012527376" sldId="258"/>
        </pc:sldMkLst>
        <pc:spChg chg="mod">
          <ac:chgData name="Ygor Azevedo" userId="acacacccbf0b3215" providerId="LiveId" clId="{4B9538CB-7C18-43AF-9EFB-89B6E21236CB}" dt="2026-01-20T23:16:32.108" v="99" actId="20577"/>
          <ac:spMkLst>
            <pc:docMk/>
            <pc:sldMk cId="4012527376" sldId="258"/>
            <ac:spMk id="3" creationId="{BE70CC52-4EB9-7042-4946-4B3E7D2C739F}"/>
          </ac:spMkLst>
        </pc:spChg>
      </pc:sldChg>
      <pc:sldChg chg="addSp delSp modSp mod">
        <pc:chgData name="Ygor Azevedo" userId="acacacccbf0b3215" providerId="LiveId" clId="{4B9538CB-7C18-43AF-9EFB-89B6E21236CB}" dt="2026-01-19T21:59:04.837" v="58" actId="11529"/>
        <pc:sldMkLst>
          <pc:docMk/>
          <pc:sldMk cId="677176490" sldId="260"/>
        </pc:sldMkLst>
        <pc:spChg chg="mod">
          <ac:chgData name="Ygor Azevedo" userId="acacacccbf0b3215" providerId="LiveId" clId="{4B9538CB-7C18-43AF-9EFB-89B6E21236CB}" dt="2026-01-17T20:33:56.323" v="25" actId="20577"/>
          <ac:spMkLst>
            <pc:docMk/>
            <pc:sldMk cId="677176490" sldId="260"/>
            <ac:spMk id="2" creationId="{0050EA76-AA8E-038C-69E5-62CFD2C490E3}"/>
          </ac:spMkLst>
        </pc:spChg>
        <pc:spChg chg="mod">
          <ac:chgData name="Ygor Azevedo" userId="acacacccbf0b3215" providerId="LiveId" clId="{4B9538CB-7C18-43AF-9EFB-89B6E21236CB}" dt="2026-01-19T21:58:11.749" v="53" actId="1076"/>
          <ac:spMkLst>
            <pc:docMk/>
            <pc:sldMk cId="677176490" sldId="260"/>
            <ac:spMk id="8" creationId="{578326D4-16B7-B969-9AEF-BD634FACB8EE}"/>
          </ac:spMkLst>
        </pc:spChg>
        <pc:spChg chg="add">
          <ac:chgData name="Ygor Azevedo" userId="acacacccbf0b3215" providerId="LiveId" clId="{4B9538CB-7C18-43AF-9EFB-89B6E21236CB}" dt="2026-01-19T21:59:04.837" v="58" actId="11529"/>
          <ac:spMkLst>
            <pc:docMk/>
            <pc:sldMk cId="677176490" sldId="260"/>
            <ac:spMk id="10" creationId="{0653A246-3E31-8722-2DB5-14AD2B7D3BBC}"/>
          </ac:spMkLst>
        </pc:spChg>
        <pc:spChg chg="add mod">
          <ac:chgData name="Ygor Azevedo" userId="acacacccbf0b3215" providerId="LiveId" clId="{4B9538CB-7C18-43AF-9EFB-89B6E21236CB}" dt="2026-01-17T20:34:44.128" v="33" actId="1076"/>
          <ac:spMkLst>
            <pc:docMk/>
            <pc:sldMk cId="677176490" sldId="260"/>
            <ac:spMk id="20" creationId="{D0DDC45D-207B-B325-67E0-9F1BA76D20E7}"/>
          </ac:spMkLst>
        </pc:spChg>
        <pc:picChg chg="mod">
          <ac:chgData name="Ygor Azevedo" userId="acacacccbf0b3215" providerId="LiveId" clId="{4B9538CB-7C18-43AF-9EFB-89B6E21236CB}" dt="2026-01-17T20:33:44.135" v="14" actId="1076"/>
          <ac:picMkLst>
            <pc:docMk/>
            <pc:sldMk cId="677176490" sldId="260"/>
            <ac:picMk id="15" creationId="{CF9F2E19-9298-C2A6-6808-E4BE21F3BD8C}"/>
          </ac:picMkLst>
        </pc:picChg>
        <pc:picChg chg="add mod">
          <ac:chgData name="Ygor Azevedo" userId="acacacccbf0b3215" providerId="LiveId" clId="{4B9538CB-7C18-43AF-9EFB-89B6E21236CB}" dt="2026-01-17T20:34:14.688" v="30" actId="1076"/>
          <ac:picMkLst>
            <pc:docMk/>
            <pc:sldMk cId="677176490" sldId="260"/>
            <ac:picMk id="19" creationId="{84FFBD4E-98F1-C904-B667-822870BFCF15}"/>
          </ac:picMkLst>
        </pc:picChg>
      </pc:sldChg>
      <pc:sldChg chg="addSp delSp modSp mod">
        <pc:chgData name="Ygor Azevedo" userId="acacacccbf0b3215" providerId="LiveId" clId="{4B9538CB-7C18-43AF-9EFB-89B6E21236CB}" dt="2026-01-20T22:18:13.408" v="84" actId="20577"/>
        <pc:sldMkLst>
          <pc:docMk/>
          <pc:sldMk cId="467693306" sldId="261"/>
        </pc:sldMkLst>
        <pc:spChg chg="mod">
          <ac:chgData name="Ygor Azevedo" userId="acacacccbf0b3215" providerId="LiveId" clId="{4B9538CB-7C18-43AF-9EFB-89B6E21236CB}" dt="2026-01-20T22:18:13.408" v="84" actId="20577"/>
          <ac:spMkLst>
            <pc:docMk/>
            <pc:sldMk cId="467693306" sldId="261"/>
            <ac:spMk id="2" creationId="{06C267DC-CAFD-D18C-DC5C-8413119CD42A}"/>
          </ac:spMkLst>
        </pc:spChg>
        <pc:picChg chg="add mod">
          <ac:chgData name="Ygor Azevedo" userId="acacacccbf0b3215" providerId="LiveId" clId="{4B9538CB-7C18-43AF-9EFB-89B6E21236CB}" dt="2026-01-20T22:10:21.743" v="68" actId="1076"/>
          <ac:picMkLst>
            <pc:docMk/>
            <pc:sldMk cId="467693306" sldId="261"/>
            <ac:picMk id="4" creationId="{0BE995FE-C0E0-B859-8E4D-0ECFBE9D4FF7}"/>
          </ac:picMkLst>
        </pc:picChg>
        <pc:picChg chg="del">
          <ac:chgData name="Ygor Azevedo" userId="acacacccbf0b3215" providerId="LiveId" clId="{4B9538CB-7C18-43AF-9EFB-89B6E21236CB}" dt="2026-01-20T22:09:51.032" v="59" actId="478"/>
          <ac:picMkLst>
            <pc:docMk/>
            <pc:sldMk cId="467693306" sldId="261"/>
            <ac:picMk id="7" creationId="{3D7AF421-9DB0-DE0E-0667-4717E2088C7F}"/>
          </ac:picMkLst>
        </pc:picChg>
      </pc:sldChg>
      <pc:sldChg chg="addSp delSp modSp mod">
        <pc:chgData name="Ygor Azevedo" userId="acacacccbf0b3215" providerId="LiveId" clId="{4B9538CB-7C18-43AF-9EFB-89B6E21236CB}" dt="2026-01-20T23:19:04.864" v="111" actId="1582"/>
        <pc:sldMkLst>
          <pc:docMk/>
          <pc:sldMk cId="2189162210" sldId="263"/>
        </pc:sldMkLst>
        <pc:spChg chg="add del mod">
          <ac:chgData name="Ygor Azevedo" userId="acacacccbf0b3215" providerId="LiveId" clId="{4B9538CB-7C18-43AF-9EFB-89B6E21236CB}" dt="2026-01-20T23:18:04.195" v="108" actId="478"/>
          <ac:spMkLst>
            <pc:docMk/>
            <pc:sldMk cId="2189162210" sldId="263"/>
            <ac:spMk id="8" creationId="{BD8EEB7C-8591-E697-FF27-3A31B1359C7C}"/>
          </ac:spMkLst>
        </pc:spChg>
        <pc:picChg chg="add mod">
          <ac:chgData name="Ygor Azevedo" userId="acacacccbf0b3215" providerId="LiveId" clId="{4B9538CB-7C18-43AF-9EFB-89B6E21236CB}" dt="2026-01-20T23:17:24.643" v="104" actId="14100"/>
          <ac:picMkLst>
            <pc:docMk/>
            <pc:sldMk cId="2189162210" sldId="263"/>
            <ac:picMk id="7" creationId="{527DDD68-68D5-A85D-CFA4-01E2F4CA0A4F}"/>
          </ac:picMkLst>
        </pc:picChg>
        <pc:cxnChg chg="add mod">
          <ac:chgData name="Ygor Azevedo" userId="acacacccbf0b3215" providerId="LiveId" clId="{4B9538CB-7C18-43AF-9EFB-89B6E21236CB}" dt="2026-01-20T23:19:04.864" v="111" actId="1582"/>
          <ac:cxnSpMkLst>
            <pc:docMk/>
            <pc:sldMk cId="2189162210" sldId="263"/>
            <ac:cxnSpMk id="10" creationId="{FB91E7E8-2581-AD8C-76E1-20D64F9540C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9678A-F1F3-AE0B-1300-01DE2B107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F3271A-9908-1D0A-CF33-02EB1CE35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C5A636-7ED4-EAAD-95CF-96E7B0E24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E5D794-9652-4530-7150-3742C4F48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2A4E67-1BD7-2B0D-D6EA-D365E2126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13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B3417-4148-0D57-5040-F9089E9B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87DE6A-288C-3637-F003-9F30BC5DB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D95881-51E2-B0C4-B083-92D353EB4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A339A-0A67-DC56-E0D2-1EB90F59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24CEB5-E1AF-836C-BCAE-4C5E9D6F6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035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ADAFD-4177-BEDE-6209-97B75265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CEB68D-7328-D75C-6F03-3661A1A97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F3CCFE-2B3C-BFA8-E3B7-9CC20AC15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E275D4-13BD-1876-F2D9-571654FA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B831A4-2599-E8B5-3513-08CB1BF6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083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3A3F0-54FF-2460-A0B9-1C98CE13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6F16C3-C755-116B-5F0C-52F7BEDE3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6B1FE9-BCB6-225A-F9D2-436B8DC3C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F8318E-5E71-8D51-49D0-ADD80D04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5641D7-6B19-CD10-BBE9-26FDBDFD7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50539D-8781-ADC5-08CD-C1622ABA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436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F259A-4D8C-4E05-0F28-C4177F422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155D58-B391-D79C-434C-7C805E731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6AB511-DE15-C3D2-A203-8DA59EA3C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90DFCB2-F9FA-E20C-21DF-58642A3E3C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6239D8-4207-785A-CE3E-2DC27A250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EC26BF-05E4-2074-7866-F018DD567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FF5500A-0A3B-71D1-8B7E-FD8C76776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8D0066-C7A6-5184-98C3-7A4F856E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FEBB9-BC2F-F407-BFDC-09FEEB15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EC38C1-EA78-C772-57FF-B1D062127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6A44A4B-34CB-E1AD-BF3D-077879277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B1A3382-9B5B-F00B-8F7D-ADBB6847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5954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5E4C717-31B8-C778-3140-AC8F85E1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88FA7A-4E07-424E-F562-279BD0F5A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3C8EFD-5DE9-DC9D-DCB3-2070D5238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18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16A89-9E3A-8947-310F-4805EE71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F5DBBB-1CE2-82B0-CDF0-C49BE7A0A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3E03E4-93A7-496A-0824-34928D519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CF84C6-F8A1-5198-4EBB-2CC819E65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D65AEA-728A-93BA-9A9C-40AA7222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422BD5-FBF9-34F8-CFCE-35EA1A627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541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7BC1B-243E-6165-DBA3-D1CAC03AD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30EBB1-2DBA-9294-4E00-E5BDBAB28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262B50-0729-772B-4D89-63ACC78C3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2FE9DF-1DE7-3EDE-42C4-6767C7DC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669893-138D-2663-37F5-F5FDD668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5E934A-28AE-C1B4-4730-1185D256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800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B5D85-89AB-D8FC-D967-12EE0452A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BC4AF79-14CA-3819-71A2-8DC6E82C3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52A809-8DD3-EE70-6AA5-64D2A33E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D22C9E-DB11-6717-D8A3-B238B17C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A61AB-570D-4891-733B-88B3F598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48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248040-0B50-4C18-5F16-D5DB4ADAF4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5C33B7-4B23-C2BD-B202-0DF31DA8F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F7BAB9-751E-A817-2BF3-CBDBDA21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BA01FC-DE07-9BA6-DF7A-19E24FFA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BF98CF-DC74-AF62-4AB8-046D3A8F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600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02A161-1DE9-7F8B-9115-20B2BF38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908CC7-5DC5-EC47-855E-4E6BC9971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CAB6A-434C-FE90-A825-F1D290F94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09C38-7FAB-4621-B8F7-3558B225AB59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5740DF-C97C-81D6-C5A6-49F442FB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97F5BB-37DA-27A7-9E5A-E2BB0C8AF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F4EA2-68A0-4D32-ABD3-56B495AFD7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1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E9EE7895-1285-DD63-D81B-CF7A196E4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36" y="1687242"/>
            <a:ext cx="6165082" cy="411005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A60F4D4-DD18-CDF9-E10A-34A6D8D00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539495"/>
            <a:ext cx="9144000" cy="157143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pt-BR" sz="3600" dirty="0"/>
              <a:t>Previsão Direcional do IBOVESPA (D+1) </a:t>
            </a:r>
            <a:br>
              <a:rPr lang="pt-BR" sz="3600" dirty="0"/>
            </a:br>
            <a:r>
              <a:rPr lang="pt-BR" sz="1600" dirty="0"/>
              <a:t>Modelo preditivo com foco em tendência de curto prazo</a:t>
            </a:r>
            <a:endParaRPr lang="pt-BR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0C52DC-6DAA-2530-F971-CF9423F9D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576" y="5303520"/>
            <a:ext cx="9144000" cy="1554480"/>
          </a:xfrm>
        </p:spPr>
        <p:txBody>
          <a:bodyPr/>
          <a:lstStyle/>
          <a:p>
            <a:pPr algn="l"/>
            <a:r>
              <a:rPr lang="pt-BR"/>
              <a:t>Ygor Azevedo Carneiro</a:t>
            </a:r>
          </a:p>
          <a:p>
            <a:pPr algn="l"/>
            <a:r>
              <a:rPr lang="pt-BR"/>
              <a:t>Módulo 2 – Pós Graduação Data Analytics Fiap</a:t>
            </a:r>
            <a:endParaRPr lang="pt-BR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E92F983-ABB8-3316-B03D-DF542EB3AA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465576" cy="346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3829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C8E455-7500-41A4-2B0D-E1913CF6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 do desafio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C2DAC4-BC20-73BC-F337-5137E269F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pt-BR" sz="2000" dirty="0"/>
              <a:t>O mercado de ações apresenta bastante ruído, o que faz com que as variações e mudanças de direção ocorram com frequência. Com isso, os valores no curto prazo tendem a ter um impacto muito maior do que os valores de longo prazo.</a:t>
            </a:r>
          </a:p>
          <a:p>
            <a:endParaRPr lang="pt-BR" sz="200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8C80605-94B8-EE68-76CE-846D981AF413}"/>
              </a:ext>
            </a:extLst>
          </p:cNvPr>
          <p:cNvSpPr txBox="1">
            <a:spLocks/>
          </p:cNvSpPr>
          <p:nvPr/>
        </p:nvSpPr>
        <p:spPr>
          <a:xfrm>
            <a:off x="5538590" y="5962079"/>
            <a:ext cx="1730890" cy="5442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500" dirty="0"/>
              <a:t>Histórico </a:t>
            </a:r>
            <a:r>
              <a:rPr lang="pt-BR" sz="1500" dirty="0" err="1"/>
              <a:t>Ibov</a:t>
            </a:r>
            <a:endParaRPr lang="pt-BR" sz="1500" dirty="0"/>
          </a:p>
        </p:txBody>
      </p:sp>
      <p:pic>
        <p:nvPicPr>
          <p:cNvPr id="10" name="Imagem 9" descr="Interface gráfica do usuário, 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8543D6A1-9F4B-F914-CB4B-31F6AB81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10" y="2815364"/>
            <a:ext cx="7554379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431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74FCB-8644-FD6C-4B2B-E5B47067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70CC52-4EB9-7042-4946-4B3E7D2C7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Prever se o índice em (D+1) irá subir ou descer;</a:t>
            </a:r>
          </a:p>
          <a:p>
            <a:endParaRPr lang="pt-BR" dirty="0"/>
          </a:p>
          <a:p>
            <a:r>
              <a:rPr lang="pt-BR" dirty="0"/>
              <a:t>Acurácia igual ou maior 75%;</a:t>
            </a:r>
          </a:p>
          <a:p>
            <a:endParaRPr lang="pt-BR" dirty="0"/>
          </a:p>
          <a:p>
            <a:r>
              <a:rPr lang="pt-BR" dirty="0"/>
              <a:t>Apresentação do racional estruturado.</a:t>
            </a:r>
          </a:p>
        </p:txBody>
      </p:sp>
    </p:spTree>
    <p:extLst>
      <p:ext uri="{BB962C8B-B14F-4D97-AF65-F5344CB8AC3E}">
        <p14:creationId xmlns:p14="http://schemas.microsoft.com/office/powerpoint/2010/main" val="401252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BC9BF-3476-2BEA-1ACF-C702E1AB1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E2EDD-33D4-66FF-97CB-75A31ED9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ao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0B7D78-AF4E-E378-0B7A-9519D2310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escolhido: </a:t>
            </a:r>
            <a:r>
              <a:rPr lang="pt-BR" dirty="0" err="1"/>
              <a:t>Prophet</a:t>
            </a:r>
            <a:endParaRPr lang="pt-BR" dirty="0"/>
          </a:p>
          <a:p>
            <a:r>
              <a:rPr lang="pt-BR" dirty="0"/>
              <a:t>Período analisado: 04/12/2023 – 03/12/2025 (2 anos)</a:t>
            </a:r>
          </a:p>
          <a:p>
            <a:r>
              <a:rPr lang="pt-BR" dirty="0"/>
              <a:t>Período de treino: (Período analisado – 30 dias)</a:t>
            </a:r>
          </a:p>
          <a:p>
            <a:r>
              <a:rPr lang="pt-BR" dirty="0"/>
              <a:t>Período de teste: 30 dias</a:t>
            </a:r>
          </a:p>
        </p:txBody>
      </p:sp>
    </p:spTree>
    <p:extLst>
      <p:ext uri="{BB962C8B-B14F-4D97-AF65-F5344CB8AC3E}">
        <p14:creationId xmlns:p14="http://schemas.microsoft.com/office/powerpoint/2010/main" val="367827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90690-C3B4-3929-7CFA-22CC1CBA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898D9-5310-BE1F-2A40-EED111DAA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Preparação da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DF517F-DBED-AABF-4902-252A8BF9F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Data(</a:t>
            </a:r>
            <a:r>
              <a:rPr lang="pt-BR" dirty="0" err="1"/>
              <a:t>object</a:t>
            </a:r>
            <a:r>
              <a:rPr lang="pt-BR" dirty="0"/>
              <a:t>) -&gt; Data (Date time);</a:t>
            </a:r>
          </a:p>
          <a:p>
            <a:r>
              <a:rPr lang="pt-BR" dirty="0"/>
              <a:t>Ordenação da data (Ascendente);</a:t>
            </a:r>
          </a:p>
          <a:p>
            <a:r>
              <a:rPr lang="pt-BR" dirty="0"/>
              <a:t>Coluna ‘</a:t>
            </a:r>
            <a:r>
              <a:rPr lang="pt-BR" dirty="0" err="1"/>
              <a:t>ds</a:t>
            </a:r>
            <a:r>
              <a:rPr lang="pt-BR" dirty="0"/>
              <a:t>’ e ‘y’ (variável target).</a:t>
            </a:r>
          </a:p>
          <a:p>
            <a:endParaRPr lang="pt-BR" dirty="0"/>
          </a:p>
        </p:txBody>
      </p:sp>
      <p:pic>
        <p:nvPicPr>
          <p:cNvPr id="5" name="Imagem 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DAEDA4C9-0115-8F23-A02D-3F0851EE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02" y="3730655"/>
            <a:ext cx="2564053" cy="23091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26041E81-346A-6AB2-6CC7-D361F8FC5FA6}"/>
              </a:ext>
            </a:extLst>
          </p:cNvPr>
          <p:cNvSpPr txBox="1">
            <a:spLocks/>
          </p:cNvSpPr>
          <p:nvPr/>
        </p:nvSpPr>
        <p:spPr>
          <a:xfrm>
            <a:off x="5575165" y="5973414"/>
            <a:ext cx="1730890" cy="5442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500" dirty="0" err="1"/>
              <a:t>Df.tail</a:t>
            </a:r>
            <a:r>
              <a:rPr lang="pt-BR" sz="1500" dirty="0"/>
              <a:t>() </a:t>
            </a:r>
          </a:p>
        </p:txBody>
      </p:sp>
      <p:pic>
        <p:nvPicPr>
          <p:cNvPr id="7" name="Imagem 6" descr="Texto, Tabela&#10;&#10;O conteúdo gerado por IA pode estar incorreto.">
            <a:extLst>
              <a:ext uri="{FF2B5EF4-FFF2-40B4-BE49-F238E27FC236}">
                <a16:creationId xmlns:a16="http://schemas.microsoft.com/office/drawing/2014/main" id="{527DDD68-68D5-A85D-CFA4-01E2F4CA0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869" y="790450"/>
            <a:ext cx="5049477" cy="1971800"/>
          </a:xfrm>
          <a:prstGeom prst="rect">
            <a:avLst/>
          </a:prstGeom>
        </p:spPr>
      </p:pic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FB91E7E8-2581-AD8C-76E1-20D64F9540C8}"/>
              </a:ext>
            </a:extLst>
          </p:cNvPr>
          <p:cNvCxnSpPr>
            <a:stCxn id="7" idx="2"/>
            <a:endCxn id="5" idx="3"/>
          </p:cNvCxnSpPr>
          <p:nvPr/>
        </p:nvCxnSpPr>
        <p:spPr>
          <a:xfrm rot="5400000">
            <a:off x="7334843" y="2733463"/>
            <a:ext cx="2122979" cy="2180553"/>
          </a:xfrm>
          <a:prstGeom prst="bentConnector2">
            <a:avLst/>
          </a:prstGeom>
          <a:ln w="762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6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51D51-E1B1-6A9A-E878-FDF91E82C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0EA76-AA8E-038C-69E5-62CFD2C49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Equação </a:t>
            </a:r>
            <a:r>
              <a:rPr lang="pt-BR" dirty="0" err="1"/>
              <a:t>Prophet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BC25F0-F03D-1605-9629-FCB20DADC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74" y="1896524"/>
            <a:ext cx="4675235" cy="797758"/>
          </a:xfrm>
          <a:prstGeom prst="rect">
            <a:avLst/>
          </a:prstGeom>
        </p:spPr>
      </p:pic>
      <p:pic>
        <p:nvPicPr>
          <p:cNvPr id="7" name="Imagem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E9AAED32-BF7D-208B-D929-A6215027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46" y="2900118"/>
            <a:ext cx="5315692" cy="2114845"/>
          </a:xfrm>
          <a:prstGeom prst="rect">
            <a:avLst/>
          </a:prstGeom>
        </p:spPr>
      </p:pic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78326D4-16B7-B969-9AEF-BD634FAC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7508" y="756075"/>
            <a:ext cx="4641878" cy="5609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b="1" dirty="0" err="1"/>
              <a:t>GridSearch</a:t>
            </a:r>
            <a:r>
              <a:rPr lang="pt-BR" sz="2000" b="1" dirty="0"/>
              <a:t> - Parâmetros escolhidos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411AD6C-2ED1-B041-5939-4CC20BB05372}"/>
              </a:ext>
            </a:extLst>
          </p:cNvPr>
          <p:cNvSpPr txBox="1">
            <a:spLocks/>
          </p:cNvSpPr>
          <p:nvPr/>
        </p:nvSpPr>
        <p:spPr>
          <a:xfrm>
            <a:off x="605981" y="5663434"/>
            <a:ext cx="3847147" cy="560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400" b="1" dirty="0"/>
              <a:t>*Utilização de Média Móvel últimos 3 dias para captura do momentum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EDE98DB-748A-CD85-7588-D8258285A532}"/>
              </a:ext>
            </a:extLst>
          </p:cNvPr>
          <p:cNvCxnSpPr/>
          <p:nvPr/>
        </p:nvCxnSpPr>
        <p:spPr>
          <a:xfrm>
            <a:off x="6592824" y="192024"/>
            <a:ext cx="0" cy="63642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CF9F2E19-9298-C2A6-6808-E4BE21F3B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3021" y="4232699"/>
            <a:ext cx="3234689" cy="1869226"/>
          </a:xfrm>
          <a:prstGeom prst="rect">
            <a:avLst/>
          </a:prstGeom>
        </p:spPr>
      </p:pic>
      <p:pic>
        <p:nvPicPr>
          <p:cNvPr id="19" name="Imagem 18" descr="Texto&#10;&#10;O conteúdo gerado por IA pode estar incorreto.">
            <a:extLst>
              <a:ext uri="{FF2B5EF4-FFF2-40B4-BE49-F238E27FC236}">
                <a16:creationId xmlns:a16="http://schemas.microsoft.com/office/drawing/2014/main" id="{84FFBD4E-98F1-C904-B667-822870BFC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078" y="1426247"/>
            <a:ext cx="2952573" cy="1738312"/>
          </a:xfrm>
          <a:prstGeom prst="rect">
            <a:avLst/>
          </a:prstGeom>
        </p:spPr>
      </p:pic>
      <p:sp>
        <p:nvSpPr>
          <p:cNvPr id="20" name="Seta: para Baixo 19">
            <a:extLst>
              <a:ext uri="{FF2B5EF4-FFF2-40B4-BE49-F238E27FC236}">
                <a16:creationId xmlns:a16="http://schemas.microsoft.com/office/drawing/2014/main" id="{D0DDC45D-207B-B325-67E0-9F1BA76D20E7}"/>
              </a:ext>
            </a:extLst>
          </p:cNvPr>
          <p:cNvSpPr/>
          <p:nvPr/>
        </p:nvSpPr>
        <p:spPr>
          <a:xfrm>
            <a:off x="9006840" y="3217611"/>
            <a:ext cx="694944" cy="7399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0653A246-3E31-8722-2DB5-14AD2B7D3BBC}"/>
              </a:ext>
            </a:extLst>
          </p:cNvPr>
          <p:cNvSpPr/>
          <p:nvPr/>
        </p:nvSpPr>
        <p:spPr>
          <a:xfrm>
            <a:off x="7808976" y="5330952"/>
            <a:ext cx="393190" cy="1920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17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6706D-56DF-2801-2964-653863C4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Previsão</a:t>
            </a:r>
          </a:p>
        </p:txBody>
      </p:sp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492A9CB3-66AC-01EA-9E17-286534794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819" y="1593762"/>
            <a:ext cx="2953162" cy="1028844"/>
          </a:xfrm>
          <a:prstGeom prst="rect">
            <a:avLst/>
          </a:prstGeom>
        </p:spPr>
      </p:pic>
      <p:pic>
        <p:nvPicPr>
          <p:cNvPr id="9" name="Imagem 8" descr="Gráfico&#10;&#10;O conteúdo gerado por IA pode estar incorreto.">
            <a:extLst>
              <a:ext uri="{FF2B5EF4-FFF2-40B4-BE49-F238E27FC236}">
                <a16:creationId xmlns:a16="http://schemas.microsoft.com/office/drawing/2014/main" id="{B31BE892-E31C-6DB2-AEC7-D57E0CD05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612" y="1062224"/>
            <a:ext cx="2454789" cy="1888300"/>
          </a:xfrm>
          <a:prstGeom prst="rect">
            <a:avLst/>
          </a:prstGeom>
        </p:spPr>
      </p:pic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DF15653B-D00B-FD14-B8D3-ED73927D5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56" y="1593762"/>
            <a:ext cx="2947326" cy="777592"/>
          </a:xfrm>
          <a:prstGeom prst="rect">
            <a:avLst/>
          </a:prstGeom>
        </p:spPr>
      </p:pic>
      <p:pic>
        <p:nvPicPr>
          <p:cNvPr id="17" name="Imagem 16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7A8E9211-C507-EA86-D44A-1CF516020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406" y="2915032"/>
            <a:ext cx="8442690" cy="362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1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0FA8-4330-F67A-27AE-3677FAE8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267DC-CAFD-D18C-DC5C-8413119CD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Backtest</a:t>
            </a:r>
            <a:endParaRPr lang="pt-BR" dirty="0"/>
          </a:p>
        </p:txBody>
      </p:sp>
      <p:pic>
        <p:nvPicPr>
          <p:cNvPr id="4" name="Imagem 3" descr="Interface gráfica do usuário, 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0BE995FE-C0E0-B859-8E4D-0ECFBE9D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92" y="1581912"/>
            <a:ext cx="10198608" cy="479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93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446F-B238-4750-8C4E-FBBF7645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D047C86-B6B3-5D28-9300-8B203CE98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7"/>
            <a:ext cx="10515600" cy="6061520"/>
          </a:xfrm>
        </p:spPr>
        <p:txBody>
          <a:bodyPr>
            <a:normAutofit/>
          </a:bodyPr>
          <a:lstStyle/>
          <a:p>
            <a:pPr algn="ctr"/>
            <a:r>
              <a:rPr lang="pt-BR" sz="13800" b="1" dirty="0"/>
              <a:t>Obrigado ! </a:t>
            </a:r>
          </a:p>
        </p:txBody>
      </p:sp>
    </p:spTree>
    <p:extLst>
      <p:ext uri="{BB962C8B-B14F-4D97-AF65-F5344CB8AC3E}">
        <p14:creationId xmlns:p14="http://schemas.microsoft.com/office/powerpoint/2010/main" val="2045301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4789</TotalTime>
  <Words>201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Previsão Direcional do IBOVESPA (D+1)  Modelo preditivo com foco em tendência de curto prazo</vt:lpstr>
      <vt:lpstr>Contexto do desafio</vt:lpstr>
      <vt:lpstr>Objetivo do projeto</vt:lpstr>
      <vt:lpstr>Introdução ao projeto</vt:lpstr>
      <vt:lpstr>Preparação da base</vt:lpstr>
      <vt:lpstr>Equação Prophet</vt:lpstr>
      <vt:lpstr>Previsão</vt:lpstr>
      <vt:lpstr>Backtest</vt:lpstr>
      <vt:lpstr>Obrigado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Ygor Azevedo</dc:creator>
  <cp:lastModifiedBy>Ygor Azevedo</cp:lastModifiedBy>
  <cp:revision>1</cp:revision>
  <dcterms:created xsi:type="dcterms:W3CDTF">2026-01-17T15:25:18Z</dcterms:created>
  <dcterms:modified xsi:type="dcterms:W3CDTF">2026-01-21T00:41:30Z</dcterms:modified>
</cp:coreProperties>
</file>